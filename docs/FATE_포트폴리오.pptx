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aca5689050457d" /><Relationship Type="http://schemas.openxmlformats.org/officeDocument/2006/relationships/extended-properties" Target="/docProps/app.xml" Id="R0156900d826c49c6" /><Relationship Type="http://schemas.openxmlformats.org/officeDocument/2006/relationships/officeDocument" Target="/ppt/presentation.xml" Id="R3231bc4d7a4943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db056d42164a4d"/>
  </p:sldMasterIdLst>
  <p:notesMasterIdLst>
    <p:notesMasterId xmlns:r="http://schemas.openxmlformats.org/officeDocument/2006/relationships" r:id="Rab85ebca160143bc"/>
  </p:notesMasterIdLst>
  <p:sldIdLst>
    <p:sldId xmlns:r="http://schemas.openxmlformats.org/officeDocument/2006/relationships" id="256" r:id="Rd1fcedd22bb94f7f"/>
    <p:sldId xmlns:r="http://schemas.openxmlformats.org/officeDocument/2006/relationships" id="257" r:id="Rcfa90b2b1ed94a10"/>
    <p:sldId xmlns:r="http://schemas.openxmlformats.org/officeDocument/2006/relationships" id="258" r:id="Rbbff77ae43ff4293"/>
    <p:sldId xmlns:r="http://schemas.openxmlformats.org/officeDocument/2006/relationships" id="259" r:id="Rc998f55879184c55"/>
    <p:sldId xmlns:r="http://schemas.openxmlformats.org/officeDocument/2006/relationships" id="260" r:id="R84f8276557f44392"/>
    <p:sldId xmlns:r="http://schemas.openxmlformats.org/officeDocument/2006/relationships" id="261" r:id="R1362d0177b954047"/>
    <p:sldId xmlns:r="http://schemas.openxmlformats.org/officeDocument/2006/relationships" id="262" r:id="R57c0687010134bb1"/>
    <p:sldId xmlns:r="http://schemas.openxmlformats.org/officeDocument/2006/relationships" id="263" r:id="R182d5b4d45e749dd"/>
    <p:sldId xmlns:r="http://schemas.openxmlformats.org/officeDocument/2006/relationships" id="264" r:id="Rd95d9927cede4a9f"/>
    <p:sldId xmlns:r="http://schemas.openxmlformats.org/officeDocument/2006/relationships" id="265" r:id="R06bca754630d45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b06f67e3c5414a" /><Relationship Type="http://schemas.openxmlformats.org/officeDocument/2006/relationships/slideMaster" Target="/ppt/slideMasters/slideMaster1.xml" Id="Rf7db056d42164a4d" /><Relationship Type="http://schemas.openxmlformats.org/officeDocument/2006/relationships/notesMaster" Target="/ppt/notesMasters/notesMaster1.xml" Id="Rab85ebca160143bc" /><Relationship Type="http://schemas.openxmlformats.org/officeDocument/2006/relationships/presProps" Target="/ppt/presProps.xml" Id="R8ba4d03df34b462d" /><Relationship Type="http://schemas.openxmlformats.org/officeDocument/2006/relationships/tableStyles" Target="/ppt/tableStyles.xml" Id="R4772d5c134f94f81" /><Relationship Type="http://schemas.openxmlformats.org/officeDocument/2006/relationships/slide" Target="/ppt/slides/slide1.xml" Id="Rd1fcedd22bb94f7f" /><Relationship Type="http://schemas.openxmlformats.org/officeDocument/2006/relationships/slide" Target="/ppt/slides/slide2.xml" Id="Rcfa90b2b1ed94a10" /><Relationship Type="http://schemas.openxmlformats.org/officeDocument/2006/relationships/slide" Target="/ppt/slides/slide3.xml" Id="Rbbff77ae43ff4293" /><Relationship Type="http://schemas.openxmlformats.org/officeDocument/2006/relationships/slide" Target="/ppt/slides/slide4.xml" Id="Rc998f55879184c55" /><Relationship Type="http://schemas.openxmlformats.org/officeDocument/2006/relationships/slide" Target="/ppt/slides/slide5.xml" Id="R84f8276557f44392" /><Relationship Type="http://schemas.openxmlformats.org/officeDocument/2006/relationships/slide" Target="/ppt/slides/slide6.xml" Id="R1362d0177b954047" /><Relationship Type="http://schemas.openxmlformats.org/officeDocument/2006/relationships/slide" Target="/ppt/slides/slide7.xml" Id="R57c0687010134bb1" /><Relationship Type="http://schemas.openxmlformats.org/officeDocument/2006/relationships/slide" Target="/ppt/slides/slide8.xml" Id="R182d5b4d45e749dd" /><Relationship Type="http://schemas.openxmlformats.org/officeDocument/2006/relationships/slide" Target="/ppt/slides/slide9.xml" Id="Rd95d9927cede4a9f" /><Relationship Type="http://schemas.openxmlformats.org/officeDocument/2006/relationships/slide" Target="/ppt/slides/slide10.xml" Id="R06bca754630d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d31fd76dd54c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fdfa8a32b14f7c" /><Relationship Type="http://schemas.openxmlformats.org/officeDocument/2006/relationships/notesMaster" Target="/ppt/notesMasters/notesMaster1.xml" Id="R087a750f56b146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368cc8916043aa" /><Relationship Type="http://schemas.openxmlformats.org/officeDocument/2006/relationships/notesMaster" Target="/ppt/notesMasters/notesMaster1.xml" Id="R3741e96bab2447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095d11eb884a8e" /><Relationship Type="http://schemas.openxmlformats.org/officeDocument/2006/relationships/notesMaster" Target="/ppt/notesMasters/notesMaster1.xml" Id="R9a17ce9dbd7740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4624a9c3ae4fd4" /><Relationship Type="http://schemas.openxmlformats.org/officeDocument/2006/relationships/notesMaster" Target="/ppt/notesMasters/notesMaster1.xml" Id="R341adfa5dcce4b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61f8bbce674c8f" /><Relationship Type="http://schemas.openxmlformats.org/officeDocument/2006/relationships/notesMaster" Target="/ppt/notesMasters/notesMaster1.xml" Id="R150a446c69b84e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963269e2bf44b6" /><Relationship Type="http://schemas.openxmlformats.org/officeDocument/2006/relationships/notesMaster" Target="/ppt/notesMasters/notesMaster1.xml" Id="Rde74d0945cab46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f1cd08898c4ca3" /><Relationship Type="http://schemas.openxmlformats.org/officeDocument/2006/relationships/notesMaster" Target="/ppt/notesMasters/notesMaster1.xml" Id="Rbc81ef4fdaa745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9b2fa79cd749f2" /><Relationship Type="http://schemas.openxmlformats.org/officeDocument/2006/relationships/notesMaster" Target="/ppt/notesMasters/notesMaster1.xml" Id="R1c743eea1d984c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cc0ecdc9344f77" /><Relationship Type="http://schemas.openxmlformats.org/officeDocument/2006/relationships/notesMaster" Target="/ppt/notesMasters/notesMaster1.xml" Id="R3c1d3aabe1af46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894374f7534fdb" /><Relationship Type="http://schemas.openxmlformats.org/officeDocument/2006/relationships/notesMaster" Target="/ppt/notesMasters/notesMaster1.xml" Id="R95a3bedbe9da4f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386677ecf40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66ee66fb024d24" /><Relationship Type="http://schemas.openxmlformats.org/officeDocument/2006/relationships/slideLayout" Target="/ppt/slideLayouts/slideLayout1.xml" Id="R67af78b3208f45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af78b3208f45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516bedf32471b" /><Relationship Type="http://schemas.openxmlformats.org/officeDocument/2006/relationships/notesSlide" Target="/ppt/notesSlides/notesSlide1.xml" Id="R9096586bc4b247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e3617a8194ba5" /><Relationship Type="http://schemas.openxmlformats.org/officeDocument/2006/relationships/notesSlide" Target="/ppt/notesSlides/notesSlide2.xml" Id="R0fccf3a5835147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3977ce97d48e1" /><Relationship Type="http://schemas.openxmlformats.org/officeDocument/2006/relationships/notesSlide" Target="/ppt/notesSlides/notesSlide3.xml" Id="Rea2962dd96504a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c7e728c6d469b" /><Relationship Type="http://schemas.openxmlformats.org/officeDocument/2006/relationships/notesSlide" Target="/ppt/notesSlides/notesSlide4.xml" Id="R6a242be532084b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3651e97db4567" /><Relationship Type="http://schemas.openxmlformats.org/officeDocument/2006/relationships/image" Target="/ppt/media/image.png" Id="R38fda175f8af4799" /><Relationship Type="http://schemas.openxmlformats.org/officeDocument/2006/relationships/notesSlide" Target="/ppt/notesSlides/notesSlide5.xml" Id="Rb5bcd533a54c4f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0e2fae43c417b" /><Relationship Type="http://schemas.openxmlformats.org/officeDocument/2006/relationships/notesSlide" Target="/ppt/notesSlides/notesSlide6.xml" Id="R3ad9d9c4c2924b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8eb81fc474811" /><Relationship Type="http://schemas.openxmlformats.org/officeDocument/2006/relationships/image" Target="/ppt/media/image2.png" Id="Rc36e9fa4dac4475e" /><Relationship Type="http://schemas.openxmlformats.org/officeDocument/2006/relationships/notesSlide" Target="/ppt/notesSlides/notesSlide7.xml" Id="Rdc6489b3501c42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f18b10f7f4fce" /><Relationship Type="http://schemas.openxmlformats.org/officeDocument/2006/relationships/notesSlide" Target="/ppt/notesSlides/notesSlide8.xml" Id="R3860ca9f17cc4a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e2ed46ca540cf" /><Relationship Type="http://schemas.openxmlformats.org/officeDocument/2006/relationships/notesSlide" Target="/ppt/notesSlides/notesSlide9.xml" Id="R716b7c4a20ec45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7d3bac1864cc1" /><Relationship Type="http://schemas.openxmlformats.org/officeDocument/2006/relationships/notesSlide" Target="/ppt/notesSlides/notesSlide10.xml" Id="Rf7f780ebc19c41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F02A3-A0B7-47AA-9590-AA9A4D9C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784C9-A21B-478B-905E-76AA6795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8E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D8ED"/>
                </a:solidFill>
                <a:latin typeface="Arial"/>
                <a:ea typeface="Arial"/>
                <a:cs typeface="Arial"/>
              </a:rPr>
              <a:t>Financial Analysis Trend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E05AA-B98D-4F0F-9FBE-6597D16D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AB0B3-139C-4A0D-B61E-BA9BE9CE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공식 KRX 데이터로 구축한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KOSPI 다음 거래일 방향 예측 파이프라인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8466D-6E5F-4AEC-851A-053BE35E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8E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D8ED"/>
                </a:solidFill>
                <a:latin typeface="Arial"/>
                <a:ea typeface="Arial"/>
                <a:cs typeface="Arial"/>
              </a:rPr>
              <a:t>데이터 수집 · EDA/CDA · 시간순 검증 · 일일 예측 대시보드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E6CBB-D48B-41DE-B182-3E1FA007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0550"/>
            <a:ext cx="4095750" cy="51244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72B4D"/>
          </a:solidFill>
          <a:ln xmlns:a="http://schemas.openxmlformats.org/drawingml/2006/main" w="9525">
            <a:solidFill>
              <a:srgbClr val="315A9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BF4AC-CB86-4F00-AA5C-01A1F51B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68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9CC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9CCFF"/>
                </a:solidFill>
                <a:latin typeface="Arial"/>
                <a:ea typeface="Arial"/>
                <a:cs typeface="Arial"/>
              </a:rPr>
              <a:t>KOSPI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C95A0-C915-41E3-9E57-C9C4084F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4310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40F07-003C-4B56-9EC7-40FBD84F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81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8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8ED"/>
                </a:solidFill>
                <a:latin typeface="Arial"/>
                <a:ea typeface="Arial"/>
                <a:cs typeface="Arial"/>
              </a:rPr>
              <a:t>분석 종목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22044-E4CA-4F9B-9936-8E82E1AF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FA6"/>
          </a:solidFill>
          <a:ln xmlns:a="http://schemas.openxmlformats.org/drawingml/2006/main" w="0">
            <a:solidFill>
              <a:srgbClr val="416F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D6C4B-4A40-4750-8AF7-F76695B6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675,189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1084A-D930-46E6-BAC6-24204212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57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8E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8ED"/>
                </a:solidFill>
                <a:latin typeface="Arial"/>
                <a:ea typeface="Arial"/>
                <a:cs typeface="Arial"/>
              </a:rPr>
              <a:t>일별 OHLCV 관측치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39414-C7C1-4710-99ED-041C4A30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00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C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CCFF"/>
                </a:solidFill>
                <a:latin typeface="Arial"/>
                <a:ea typeface="Arial"/>
                <a:cs typeface="Arial"/>
              </a:rPr>
              <a:t>2023.09 — 2026.08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91E1F-7EEC-4B0B-9327-98A6FE5D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C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CCFF"/>
                </a:solidFill>
                <a:latin typeface="Arial"/>
                <a:ea typeface="Arial"/>
                <a:cs typeface="Arial"/>
              </a:rPr>
              <a:t>Portfolio Project · 2026</a:t>
            </a:r>
          </a:p>
        </p:txBody>
      </p:sp>
    </p:spTree>
    <p:extLst>
      <p:ext uri="{BB962C8B-B14F-4D97-AF65-F5344CB8AC3E}">
        <p14:creationId xmlns:p14="http://schemas.microsoft.com/office/powerpoint/2010/main" val="6150684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EC83D-C392-4513-9AB0-6E9397EF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목표는 ‘다음 거래일 상승 여부’를 재현 가능하게 분류하는 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41478-6084-474F-8BF8-8B5BDE8E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목표 주가가 아닌 종목별 상승 가능성의 상대적 순위에 집중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C455C-5D2A-4FEE-BE37-BEC1B38C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573F4-A11D-4FD5-9DCC-83F88AC8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4"/>
          </a:solidFill>
          <a:ln xmlns:a="http://schemas.openxmlformats.org/drawingml/2006/main" w="0">
            <a:solidFill>
              <a:srgbClr val="D6DC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F18AC-7130-4F3D-8641-D52BE3A5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FATE · Financial Analysis Trend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10842-D670-4939-9A49-88A7C821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37D39-F8B0-4D34-BC35-59DEA954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문제 정의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1A332-04A7-4D85-809E-2C621930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4667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39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국내 주식 데이터의 안정적 수집부터</a:t>
            </a:r>
          </a:p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분석·예측·조회까지 연결한다.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46258-602A-4ACC-9303-3B85121B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E68CD-C0EC-43F6-A465-DAC64E4F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예측 시점 장 마감까지 알 수 있는 정보만 사용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4D61D-3EFD-4308-B48C-B7C7CBC1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42E97-5184-4D5C-926C-C047507F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다음 거래일 종가가 상승했는지 이진 분류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2A8C1-AA89-4942-9999-0BFA83B4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68217-74E6-42BE-AE84-4E06EF72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무작위 분할 대신 시간순 검증으로 미래 누출 차단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63B31-210B-4013-B19E-ED19C73A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6E4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856D4-F6BB-477A-9B4C-355493C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질문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C779C-A079-4315-9985-0CA12184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371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20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‘어떤 종목이</a:t>
            </a:r>
          </a:p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내일 상대적으로</a:t>
            </a:r>
          </a:p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상승할 가능성이 높은가?’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738BCC-6F25-4EB5-BBDB-41D5DF60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52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예측 확률은 투자 권유가 아닌</a:t>
            </a:r>
          </a:p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분석용 순위 지표로 사용</a:t>
            </a:r>
          </a:p>
        </p:txBody>
      </p:sp>
    </p:spTree>
    <p:extLst>
      <p:ext uri="{BB962C8B-B14F-4D97-AF65-F5344CB8AC3E}">
        <p14:creationId xmlns:p14="http://schemas.microsoft.com/office/powerpoint/2010/main" val="3421310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7B159-08EC-4E2B-9900-DA218E9F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공식 API 중심의 데이터 파이프라인을 설계했다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64222-72EF-41AF-9C23-D199F1E7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KRX Open API와 MySQL을 중심으로 적재·분석·예측을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DAFC3-8E8F-4BB7-B536-193F2C8B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0BCE0-4A41-42D3-9FE2-3CE2CC62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4"/>
          </a:solidFill>
          <a:ln xmlns:a="http://schemas.openxmlformats.org/drawingml/2006/main" w="0">
            <a:solidFill>
              <a:srgbClr val="D6DC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ED761-A1B4-41FD-9BA4-107CE60B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FATE · Financial Analysis Trend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0DB2A-1EF6-45E9-8853-7FCE4327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B8409-EDE2-4BDE-BE69-A25FBC74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9A87A-0E7C-4AD4-BFE7-6F52971E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F1D8C-A199-45BD-8089-4B9F196D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KRX Open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B0196-5415-4810-A50F-0480E27F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종목기본정보</a:t>
            </a:r>
          </a:p>
          <a:p xmlns:a="http://schemas.openxmlformats.org/drawingml/2006/main"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일별매매정보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B451E-26C9-48C1-8A29-F61C6373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295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E8176-8373-4DDE-9C23-3DE58AD2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7175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6F1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578A6-89AC-4CDF-9C65-726BD03B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71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solidFill>
              <a:srgbClr val="0F9D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C62CE-7C79-4234-B37A-4DA154F0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ETL 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DB499-F083-4F1F-94A4-2F8C2D87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7662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재시도 · upsert</a:t>
            </a:r>
          </a:p>
          <a:p xmlns:a="http://schemas.openxmlformats.org/drawingml/2006/main"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ETL 로그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C65E9-76FF-496A-A4E4-A565BC35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295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74651-07C2-4B60-B310-028D0574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7175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3EC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51BA3-EE2C-4A7A-A99A-C9B032A5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71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C2C"/>
          </a:solidFill>
          <a:ln xmlns:a="http://schemas.openxmlformats.org/drawingml/2006/main" w="0">
            <a:solidFill>
              <a:srgbClr val="C28C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B0EA9-4D5D-404F-94DE-9D5331DB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MySQL Warehouse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3D18D-C9C4-4E01-AF88-20938CF3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7662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stocks · prices</a:t>
            </a:r>
          </a:p>
          <a:p xmlns:a="http://schemas.openxmlformats.org/drawingml/2006/main"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market indicators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097FE-A0C9-4789-8D90-60DFF5E6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295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98A3E-3552-4A1F-B4EB-718807AD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7175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9F1F1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BFA7E-3D0D-4806-AD89-EE628CA3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71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6"/>
          </a:solidFill>
          <a:ln xmlns:a="http://schemas.openxmlformats.org/drawingml/2006/main" w="0">
            <a:solidFill>
              <a:srgbClr val="E4575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E9F7C-23C0-4779-B448-9E458B48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90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Analysis &amp; 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DB002E-7CA8-429E-B8CB-3D10D7F0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7662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EDA/CDA · 모델</a:t>
            </a:r>
          </a:p>
          <a:p xmlns:a="http://schemas.openxmlformats.org/drawingml/2006/main"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일일 예측 CSV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6E58E-D1A1-4BD0-A6A2-F100405E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295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9DC835-CB22-42D4-AAC8-B1C1E863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7175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C50CF8-2683-435A-BC93-49C1FEFE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71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4B1DE8-9A32-4181-854A-986B977D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90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4E2AA1-976B-4926-96FD-80A2249F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7662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상승확률 순위</a:t>
            </a:r>
          </a:p>
          <a:p xmlns:a="http://schemas.openxmlformats.org/drawingml/2006/main"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검색 · 다운로드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8BD0A9-9923-46EF-B275-4B0A8568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설계 원칙: 원천과 응답 스키마를 명시하고, 같은 기간을 다시 실행해도 중복 적재되지 않도록 구성</a:t>
            </a:r>
          </a:p>
        </p:txBody>
      </p:sp>
    </p:spTree>
    <p:extLst>
      <p:ext uri="{BB962C8B-B14F-4D97-AF65-F5344CB8AC3E}">
        <p14:creationId xmlns:p14="http://schemas.microsoft.com/office/powerpoint/2010/main" val="15723238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C400A-1A4C-4B35-9C2E-EE0CD86D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수집 중단을 ‘처음부터 재수집’하지 않고 복구 가능한 구조로 바꿨다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BA4A8-D977-41DC-BE7B-312129F0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웹·캐시 의존 수집을 공식 KRX API로 전환하고 장기 백필의 일시 오류를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28333-4925-44E1-9DF1-41FF3A73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90CD3-678A-430D-89EA-CC2498A7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4"/>
          </a:solidFill>
          <a:ln xmlns:a="http://schemas.openxmlformats.org/drawingml/2006/main" w="0">
            <a:solidFill>
              <a:srgbClr val="D6DC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04DEF-568C-4545-9B7C-311F54D9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FATE · Financial Analysis Trend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9B7BB-B6AE-4E0D-B22A-55D41720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42B6E-4675-4DD3-81F7-96632F2A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문제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F0BC4-18E3-49F1-96B0-FC220EC5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3년치 백필 중 KRX가</a:t>
            </a:r>
          </a:p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JSON이 아닌 응답을 반환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701B6-B65C-4B0C-ABCE-0495C02E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7175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4"/>
          </a:solidFill>
          <a:ln xmlns:a="http://schemas.openxmlformats.org/drawingml/2006/main" w="0">
            <a:solidFill>
              <a:srgbClr val="D6DC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FDC20-DB1F-4D4E-BF46-E25016F9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81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진단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62FCE-D801-4EFF-A648-4E2B3D13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2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동일 인증키·엔드포인트 재확인</a:t>
            </a:r>
          </a:p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정상 HTTP 200 · 944종목 응답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D3198-E418-4875-A7F8-6579A709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4"/>
          </a:solidFill>
          <a:ln xmlns:a="http://schemas.openxmlformats.org/drawingml/2006/main" w="0">
            <a:solidFill>
              <a:srgbClr val="D6DC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840D5-3F73-4348-8379-CD5651E5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81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해결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45205-C407-4631-B059-06D7F456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0.35초 간격 · 5회 재시도</a:t>
            </a:r>
          </a:p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ETL 로그 기반 자동 재개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454DD-E271-4508-9FB4-547F2B8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1057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6E4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008A6-7CF9-4965-B4E9-8BA06BFF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ADD53-4AEE-491A-AEE6-2BCC46C5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43350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944종목 · 675,189건 · 중복 0건 · OHLCV 결측 0건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D4402-7303-412F-B4B8-8E1C1F2F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57700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실패 지점만 이어서 적재하는 날짜 단위 upsert·ETL 이력 구조를 확보</a:t>
            </a:r>
          </a:p>
        </p:txBody>
      </p:sp>
    </p:spTree>
    <p:extLst>
      <p:ext uri="{BB962C8B-B14F-4D97-AF65-F5344CB8AC3E}">
        <p14:creationId xmlns:p14="http://schemas.microsoft.com/office/powerpoint/2010/main" val="7570846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93B0E-B437-49A2-AC18-1D1FC322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EDA·CDA는 단기 평균회귀 신호와 시장 피처의 필요성을 보여줬다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3FB5B-544C-4323-A2DA-31B78543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일별 횡단면 Spearman IC · HAC(Newey-West) · FDR 5% 보정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64744-A21C-4BA5-BE1B-57AFDA4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53A82-00E2-48F9-AC57-4E23AB2F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4"/>
          </a:solidFill>
          <a:ln xmlns:a="http://schemas.openxmlformats.org/drawingml/2006/main" w="0">
            <a:solidFill>
              <a:srgbClr val="D6DC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69779-546F-4B71-8C38-B0B23C9E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FATE · Financial Analysis Trend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0061A-9843-441E-83DF-FB5A4ABC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da175f8af4799"/>
          <a:stretch xmlns:a="http://schemas.openxmlformats.org/drawingml/2006/main"/>
        </p:blipFill>
        <p:spPr>
          <a:xfrm xmlns:a="http://schemas.openxmlformats.org/drawingml/2006/main">
            <a:off x="476250" y="2176096"/>
            <a:ext cx="6667500" cy="307730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DE703-350F-4DBD-AA63-08AFCEBD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57375"/>
            <a:ext cx="3143250" cy="32575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8D571-BA7C-44A2-BF15-982D1D4C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핵심 관찰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DE64F-35CA-4D08-976E-9666D86F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9525">
            <a:solidFill>
              <a:srgbClr val="0F9D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3A593-74E5-4A26-9BE3-6DA77088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622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장중 변동성·RSI·MACD는 음의 관계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86F05-E76B-49BC-87A5-1896449D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52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9525">
            <a:solidFill>
              <a:srgbClr val="0F9D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8D5C6-3B69-4DA5-917A-1B41FD91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76625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거래량 변화율은 약하지만 유의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C5EB0-AA60-47FE-B63A-22A5B039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756"/>
          </a:solidFill>
          <a:ln xmlns:a="http://schemas.openxmlformats.org/drawingml/2006/main" w="9525">
            <a:solidFill>
              <a:srgbClr val="E457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04AE7-8451-40BF-AA23-8C1834EC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910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상관관계는 인과·매매 성과를 보장하지 않음</a:t>
            </a:r>
          </a:p>
        </p:txBody>
      </p:sp>
    </p:spTree>
    <p:extLst>
      <p:ext uri="{BB962C8B-B14F-4D97-AF65-F5344CB8AC3E}">
        <p14:creationId xmlns:p14="http://schemas.microsoft.com/office/powerpoint/2010/main" val="9575230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F405E-AB45-4479-AC61-62EA031A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종목 자체의 움직임에 KOSPI 시장 국면을 결합했다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725EF-1CA8-449F-A46F-611BB614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OHLCV 단독 모델의 약한 순위 예측력을 보완하기 위한 피처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AF0E8-8239-4D26-9F09-A07301F6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5D5BB-B333-48BE-A45C-8B91405F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4"/>
          </a:solidFill>
          <a:ln xmlns:a="http://schemas.openxmlformats.org/drawingml/2006/main" w="0">
            <a:solidFill>
              <a:srgbClr val="D6DC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FDC35-A043-40C0-B722-613A7E60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FATE · Financial Analysis Trend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58D99-1036-442E-9D5C-A2249C02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988C7-A66C-4C71-931C-95730DDE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4857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2F731-2B04-4E71-88CE-DD67056D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857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6E4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78E43-F001-4CFD-9A8D-9D117764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종목 OHLCV 피처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C9852-8830-4777-A255-F681B347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장중 변동성 · 전일 종가 변화율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20일 이동평균 괴리율 · RSI · MACD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4C156-BA03-4F87-8783-D12D8F58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KOSPI 시장 피처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90A0C-0318-4E9B-8C26-C339CF4B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95625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1·5일 수익률 · 20일 변동성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20일 이동평균 괴리율 · 5일 상대강도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37589-8773-474C-BCE9-6AED237E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1432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2567D-7913-439C-BB7D-7EE6C3D0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006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같은 종목 신호라도 시장이 어떤 국면인지 함께 고려</a:t>
            </a:r>
          </a:p>
        </p:txBody>
      </p:sp>
    </p:spTree>
    <p:extLst>
      <p:ext uri="{BB962C8B-B14F-4D97-AF65-F5344CB8AC3E}">
        <p14:creationId xmlns:p14="http://schemas.microsoft.com/office/powerpoint/2010/main" val="12880531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E9539-BEB3-4E16-871E-8AC6944F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최종 홀드아웃에서 Logistic Regression을 선택했다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A9CF5-0F52-4163-B95F-6228A98C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2026-03-03 ~ 2026-08-28 미사용 데이터 111,927건으로 공통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ED57B-D0E7-465C-B476-148EA23F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54B05-09A3-400A-8DC3-12464033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4"/>
          </a:solidFill>
          <a:ln xmlns:a="http://schemas.openxmlformats.org/drawingml/2006/main" w="0">
            <a:solidFill>
              <a:srgbClr val="D6DC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56F45-B830-49D4-8A4B-8FAF7B4C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FATE · Financial Analysis Trend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764DA-433B-4002-9065-7F809C11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e9fa4dac4475e"/>
          <a:stretch xmlns:a="http://schemas.openxmlformats.org/drawingml/2006/main"/>
        </p:blipFill>
        <p:spPr>
          <a:xfrm xmlns:a="http://schemas.openxmlformats.org/drawingml/2006/main">
            <a:off x="419100" y="2425473"/>
            <a:ext cx="6953250" cy="248330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D64CD-4ACD-4A18-9D0B-805A7204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30480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CCD89-9792-4089-8D9D-5DD9121F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4DF3F-376D-4CD6-BE32-736A336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0.5800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3EE80-E877-49DA-8B54-694865B2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2417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Logistic Regression ROC-AUC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722F4-8A6B-4F59-AF55-DFD06D02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766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4개 후보 중 최고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73FCF-1CC0-424B-A4D1-A4E7B720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30480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0DB9C-7369-4AAF-B0F1-82DE6285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solidFill>
              <a:srgbClr val="0F9D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7A5E9-88D1-42A2-AC37-9063E7AF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196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+10.90%p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9ACAA-D957-421A-89BE-4CB8C869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5777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상위 20% 상승률 개선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F847A-861F-4A92-A8BB-60D77940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102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전체 대비 개선폭</a:t>
            </a:r>
          </a:p>
        </p:txBody>
      </p:sp>
    </p:spTree>
    <p:extLst>
      <p:ext uri="{BB962C8B-B14F-4D97-AF65-F5344CB8AC3E}">
        <p14:creationId xmlns:p14="http://schemas.microsoft.com/office/powerpoint/2010/main" val="18272581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519C75-AF7C-4EF2-99B8-CAE5869D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성능의 한계도 결과로 기록했다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5EE16-00C1-4827-9243-E2309B3B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정확도보다 ‘상승 가능성 순위’의 정보성에 초점을 맞춘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3480F-477B-4B20-AF27-645C6613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8AA1D-5470-44CB-BED6-7DAFA94F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4"/>
          </a:solidFill>
          <a:ln xmlns:a="http://schemas.openxmlformats.org/drawingml/2006/main" w="0">
            <a:solidFill>
              <a:srgbClr val="D6DC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25256-2978-426C-AC02-7F6A1E61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FATE · Financial Analysis Trend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E779D-8F13-4680-B505-8B6CF3F6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2A49A-A93E-432E-B2FB-5F1F344A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1432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B64E7-AD9E-4A5E-9231-18690BA0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6"/>
          </a:solidFill>
          <a:ln xmlns:a="http://schemas.openxmlformats.org/drawingml/2006/main" w="0">
            <a:solidFill>
              <a:srgbClr val="E457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23506-AB33-4122-A16D-DA729152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47.9%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5BB77-23ED-4F2B-A91B-341E1A72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0.5 임계값 정확도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D976E-1539-40AE-BA8C-9A85408D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다수 클래스 기준 54.7%보다 낮음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6C921-420E-41F5-B6C9-E901B459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31432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8AC26-49F7-48C0-B982-25660F66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78EED-C047-4094-AF51-70B5E140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33625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0.5800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23821-C906-48A0-B834-B25B0862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7180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ROC-AUC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FBF46-7BDE-4A9B-85C4-665771A9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242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무작위 기준 0.500보다 높음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73898-6A71-4143-B8A7-108BCD66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52625"/>
            <a:ext cx="31432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122CF-B755-4471-9BEE-E01D48CE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52625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solidFill>
              <a:srgbClr val="0F9D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19F65-17F6-43D5-B9B4-6CBA3CD6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33625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+10.90%p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14DF0-DC09-486F-9F17-B5FF39DC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7180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상위 20% 개선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19A049-01A1-4A0E-9B46-949C08A5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242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확률 순위에는 정보가 존재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DA780-9D28-41CC-8885-BBE64CA8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95800"/>
            <a:ext cx="1000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E9"/>
          </a:solidFill>
          <a:ln xmlns:a="http://schemas.openxmlformats.org/drawingml/2006/main" w="9525">
            <a:solidFill>
              <a:srgbClr val="F0D49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F6A346-4AD5-4954-A889-FF988024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529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해석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94631-DDBB-476D-92C1-6DB27306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958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OHLCV·시장지표만으로 모든 종목의 단기 방향을 맞히기는 어렵다. 뉴스·수급·재무처럼 관측하지 않은 요인이 큰 영역이다.</a:t>
            </a:r>
          </a:p>
        </p:txBody>
      </p:sp>
    </p:spTree>
    <p:extLst>
      <p:ext uri="{BB962C8B-B14F-4D97-AF65-F5344CB8AC3E}">
        <p14:creationId xmlns:p14="http://schemas.microsoft.com/office/powerpoint/2010/main" val="19383840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7DFFD-B820-4906-BEF3-0FDEB7F0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모델 결과를 일일 실행 가능한 예측 화면까지 연결했다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61A6B-7125-46AB-B876-8D3DA5CF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데이터 갱신 → 예측 CSV → Streamlit 조회의 운영 흐름 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9CE19-70F7-41B4-9C67-E11799AE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6884D-6E89-44D0-AEA4-11AE4CCE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4"/>
          </a:solidFill>
          <a:ln xmlns:a="http://schemas.openxmlformats.org/drawingml/2006/main" w="0">
            <a:solidFill>
              <a:srgbClr val="D6DC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3B1FB-69DB-43FE-95EB-CBD01167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FATE · Financial Analysis Trend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1544E-83C1-4961-9B29-905B629E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75670-C153-4D21-8765-716B64B0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410AA-93FF-4466-83CD-B8A8647F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F22B7-FC62-4312-B7FA-71997E0A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일일 갱신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5648A-850A-49BB-A461-46C1A93C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KRX 시세·KOSPI 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AD4E1-738C-44A9-ABF3-777EA668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19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01997-7AB8-4237-9156-E59ECC50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2887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6E4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94BB4-1483-4305-BBD3-C7E85C44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67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2B618-4E0B-4D0C-A259-3F83A8E9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238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예측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1E947-FCBD-439F-A815-1B5556CB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7719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종목별 상승확률·순위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14764-3012-4EE6-88F5-E0EC311B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219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AD3BA4-41C4-445B-A9BE-9CC8EAA7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2887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9658E-6E99-4BE8-AF74-F43EE3A9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67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B879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4E009-AD5A-4D59-B44C-4BDDF05E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38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대시보드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EF276-E0D3-45C0-821A-450BD0C5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719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검색·필터·다운로드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D2E8B-42DA-4BB4-9EDE-91DF05AB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실행 명령: python -m etl.daily_prediction_update  /  streamlit run dashboard/app.py</a:t>
            </a:r>
          </a:p>
        </p:txBody>
      </p:sp>
    </p:spTree>
    <p:extLst>
      <p:ext uri="{BB962C8B-B14F-4D97-AF65-F5344CB8AC3E}">
        <p14:creationId xmlns:p14="http://schemas.microsoft.com/office/powerpoint/2010/main" val="5172090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8F22E-E581-4B3C-810A-DCB2BBCA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828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FATE가 남긴 것은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‘수익을 보장하는 모델’이 아니라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BCABB-7B0E-4688-AD0F-1FC33AF8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838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9CC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9CCFF"/>
                </a:solidFill>
                <a:latin typeface="Arial"/>
                <a:ea typeface="Arial"/>
                <a:cs typeface="Arial"/>
              </a:rPr>
              <a:t>공식 데이터 수집부터 한계가 드러나는 검증까지</a:t>
            </a:r>
          </a:p>
          <a:p xmlns:a="http://schemas.openxmlformats.org/drawingml/2006/main">
            <a:pPr algn="l">
              <a:defRPr sz="2850" b="1">
                <a:solidFill>
                  <a:srgbClr val="A9CC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9CCFF"/>
                </a:solidFill>
                <a:latin typeface="Arial"/>
                <a:ea typeface="Arial"/>
                <a:cs typeface="Arial"/>
              </a:rPr>
              <a:t>재현 가능한 금융 분석 파이프라인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10846-352D-4BCC-A222-2F0CFD8E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B99E0-62D9-4CD4-A6E2-267A471E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신뢰 가능한 원천 · 복구 가능한 ETL · 미래 누출 없는 평가 · 운영 가능한 결과물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F1460-336A-4DFF-A6E0-7254C2E9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CC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CCFF"/>
                </a:solidFill>
                <a:latin typeface="Arial"/>
                <a:ea typeface="Arial"/>
                <a:cs typeface="Arial"/>
              </a:rPr>
              <a:t>FATE · Financial Analysis Trend Engine</a:t>
            </a:r>
          </a:p>
        </p:txBody>
      </p:sp>
    </p:spTree>
    <p:extLst>
      <p:ext uri="{BB962C8B-B14F-4D97-AF65-F5344CB8AC3E}">
        <p14:creationId xmlns:p14="http://schemas.microsoft.com/office/powerpoint/2010/main" val="2054836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2026-09-03T14:19:25.4010000Z</dcterms:created>
  <dcterms:modified xsi:type="dcterms:W3CDTF">2026-09-03T14:19:25.4010000Z</dcterms:modified>
</coreProperties>
</file>